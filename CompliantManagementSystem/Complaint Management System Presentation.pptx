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Relationship Id="rId16" Type="http://schemas.openxmlformats.org/officeDocument/2006/relationships/image" Target="../media/image3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Relationship Id="rId14" Type="http://schemas.openxmlformats.org/officeDocument/2006/relationships/image" Target="../media/image4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Relationship Id="rId11" Type="http://schemas.openxmlformats.org/officeDocument/2006/relationships/image" Target="../media/image51.png"/><Relationship Id="rId12" Type="http://schemas.openxmlformats.org/officeDocument/2006/relationships/image" Target="../media/image52.png"/><Relationship Id="rId13" Type="http://schemas.openxmlformats.org/officeDocument/2006/relationships/image" Target="../media/image53.png"/><Relationship Id="rId14" Type="http://schemas.openxmlformats.org/officeDocument/2006/relationships/image" Target="../media/image54.png"/><Relationship Id="rId15" Type="http://schemas.openxmlformats.org/officeDocument/2006/relationships/image" Target="../media/image55.png"/><Relationship Id="rId16" Type="http://schemas.openxmlformats.org/officeDocument/2006/relationships/image" Target="../media/image56.png"/><Relationship Id="rId17" Type="http://schemas.openxmlformats.org/officeDocument/2006/relationships/image" Target="../media/image57.png"/><Relationship Id="rId18" Type="http://schemas.openxmlformats.org/officeDocument/2006/relationships/image" Target="../media/image5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78496"/>
            <a:ext cx="3532882" cy="342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311896"/>
            <a:ext cx="9475715" cy="670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FFFFFF"/>
                </a:solidFill>
                <a:latin typeface="Space Grotesk"/>
              </a:rPr>
              <a:t>Complaint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134766"/>
            <a:ext cx="110490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A structured digital workflow for submitting, tracking, and resolving service tickets using standard enterprise design principles.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052738"/>
            <a:ext cx="2533650" cy="274290"/>
          </a:xfrm>
          <a:prstGeom prst="rect">
            <a:avLst/>
          </a:prstGeom>
          <a:noFill/>
        </p:spPr>
        <p:txBody>
          <a:bodyPr wrap="square" lIns="295275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8BDF8"/>
                </a:solidFill>
                <a:latin typeface="Plus Jakarta Sans SemiBold"/>
              </a:rPr>
              <a:t>Presented by </a:t>
            </a:r>
            <a:r>
              <a:rPr b="0" sz="1350" i="0" u="none">
                <a:solidFill>
                  <a:srgbClr val="38BDF8"/>
                </a:solidFill>
                <a:latin typeface="Plus Jakarta Sans Black"/>
              </a:rPr>
              <a:t>Hemalatha R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1892796"/>
            <a:ext cx="178147" cy="133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09888"/>
            <a:ext cx="219075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727078"/>
            <a:ext cx="1133475" cy="3524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19275" y="4727078"/>
            <a:ext cx="828675" cy="3524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2250" y="4727078"/>
            <a:ext cx="981075" cy="3524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57625" y="4727078"/>
            <a:ext cx="1962150" cy="3524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" y="4841378"/>
            <a:ext cx="10477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81200" y="4841378"/>
            <a:ext cx="104775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24175" y="4841378"/>
            <a:ext cx="123825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19550" y="4841378"/>
            <a:ext cx="1619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5506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Space Grotesk"/>
              </a:rPr>
              <a:t>Problem Statement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219200"/>
            <a:ext cx="52863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Traditional manual complaint management creates operational bottlenecks, lack of accountability, and customer dissatisfaction.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196405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310830"/>
            <a:ext cx="19050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" y="2177355"/>
            <a:ext cx="2009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Lack of Real-Time Visibility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77380"/>
            <a:ext cx="4524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Users remain unaware of current complaint progress without digital status tracking.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291780"/>
            <a:ext cx="21336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Inefficient Manual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491805"/>
            <a:ext cx="4524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Manual records lead to duplicate entries, data loss, and administrative strain.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83084"/>
            <a:ext cx="3555950" cy="22592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1583084"/>
            <a:ext cx="3555950" cy="22592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1583084"/>
            <a:ext cx="3556099" cy="225921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032795"/>
            <a:ext cx="3555950" cy="198492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7950" y="4032795"/>
            <a:ext cx="7302549" cy="198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625" y="2392709"/>
            <a:ext cx="307970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Serves as the core programming language handling OOP design, business validation, and console interaction.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6075" y="2392709"/>
            <a:ext cx="30797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Executes SQL operations and bridges the application with relational database storage seamlessly.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2525" y="2392709"/>
            <a:ext cx="3079849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Relational database management system storing user credentials and organized complaint records.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842420"/>
            <a:ext cx="30797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Integrated Development Environment used for compiling, debugging, and managing project dependencies.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6075" y="4842420"/>
            <a:ext cx="6826299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Decouples presentation layer, business rules, and database persistence (DAO) to ensure scalable and maintainable code.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1821209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19225" y="1845022"/>
            <a:ext cx="521002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818CF8"/>
                </a:solidFill>
                <a:latin typeface="Space Grotesk"/>
              </a:rPr>
              <a:t>Java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6075" y="1821209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65675" y="1845022"/>
            <a:ext cx="591011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818CF8"/>
                </a:solidFill>
                <a:latin typeface="Space Grotesk"/>
              </a:rPr>
              <a:t>JDBC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2525" y="1821209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12125" y="1845022"/>
            <a:ext cx="77619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818CF8"/>
                </a:solidFill>
                <a:latin typeface="Space Grotesk"/>
              </a:rPr>
              <a:t>MySQL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625" y="4270920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19225" y="4294733"/>
            <a:ext cx="1167489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818CF8"/>
                </a:solidFill>
                <a:latin typeface="Space Grotesk"/>
              </a:rPr>
              <a:t>Eclipse IDE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6075" y="4270920"/>
            <a:ext cx="457200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165675" y="4294733"/>
            <a:ext cx="2404363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818CF8"/>
                </a:solidFill>
                <a:latin typeface="Space Grotesk"/>
              </a:rPr>
              <a:t>Layered Architecture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2500" y="1935509"/>
            <a:ext cx="171450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41800" y="1935509"/>
            <a:ext cx="285750" cy="2286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31113" y="1935509"/>
            <a:ext cx="200025" cy="2286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5350" y="4385220"/>
            <a:ext cx="285750" cy="2286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56087" y="4385220"/>
            <a:ext cx="257175" cy="228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Space Grotesk"/>
              </a:rPr>
              <a:t>Technology Used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21743"/>
            <a:ext cx="2619375" cy="25574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375" y="2521743"/>
            <a:ext cx="2619375" cy="25574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2521743"/>
            <a:ext cx="2619375" cy="25574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1125" y="2521743"/>
            <a:ext cx="2619375" cy="255746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759868"/>
            <a:ext cx="476250" cy="47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625" y="3426618"/>
            <a:ext cx="2250281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Role-Based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769518"/>
            <a:ext cx="2143125" cy="1071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Distinct authentication flows separating USER permissions (create/view tickets) from ADMIN controls (status updates).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9500" y="2759868"/>
            <a:ext cx="476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19500" y="3426618"/>
            <a:ext cx="2250281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Complaint Submission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9500" y="3769518"/>
            <a:ext cx="2143125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Intuitive interface allowing users to submit structured complaints with specific categories, titles, and details.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75" y="2759868"/>
            <a:ext cx="476250" cy="476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29375" y="3426618"/>
            <a:ext cx="2250281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Status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3769518"/>
            <a:ext cx="2143125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Admins transition complaints through a lifecycle: Pending, In Progress, and Resolved with immediate DB update.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9250" y="2759868"/>
            <a:ext cx="476250" cy="4762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39250" y="3426618"/>
            <a:ext cx="2250281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DAO CRUD Pattern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0" y="3769518"/>
            <a:ext cx="2143125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Standardized Data Access Object implementation executing clean SQL queries for user and ticket operations.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0587" y="2874168"/>
            <a:ext cx="314325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19512" y="2874168"/>
            <a:ext cx="276225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43675" y="2874168"/>
            <a:ext cx="247650" cy="2476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67837" y="2874168"/>
            <a:ext cx="219075" cy="2476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Space Grotesk"/>
              </a:rPr>
              <a:t>Key System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85937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785937"/>
            <a:ext cx="5334000" cy="723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643187"/>
            <a:ext cx="5334000" cy="723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500437"/>
            <a:ext cx="5334000" cy="723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357687"/>
            <a:ext cx="5334000" cy="723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224462"/>
            <a:ext cx="5334000" cy="590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523" y="5367337"/>
            <a:ext cx="81915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24819" y="5443537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14314" y="5367337"/>
            <a:ext cx="11430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3460" y="5443537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02956" y="5367337"/>
            <a:ext cx="923925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86500" y="1785937"/>
            <a:ext cx="5334000" cy="3619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9625" y="1947862"/>
            <a:ext cx="2257425" cy="219075"/>
          </a:xfrm>
          <a:prstGeom prst="rect">
            <a:avLst/>
          </a:prstGeom>
          <a:noFill/>
        </p:spPr>
        <p:txBody>
          <a:bodyPr wrap="square" lIns="1905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Space Grotesk"/>
              </a:rPr>
              <a:t>Controller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2166937"/>
            <a:ext cx="22574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ComplaintController / Main Menu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2805112"/>
            <a:ext cx="2162175" cy="219075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Space Grotesk"/>
              </a:rPr>
              <a:t>Service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3024187"/>
            <a:ext cx="21621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ComplaintService / UserService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3662362"/>
            <a:ext cx="1800225" cy="219075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Space Grotesk"/>
              </a:rPr>
              <a:t>DAO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3881437"/>
            <a:ext cx="18002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ComplaintDAO / UserDAO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4519612"/>
            <a:ext cx="3124200" cy="219075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Space Grotesk"/>
              </a:rPr>
              <a:t>Database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4738687"/>
            <a:ext cx="31242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MySQL Database (Users &amp; Complaints Tables)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9625" y="1976437"/>
            <a:ext cx="190500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9625" y="2833687"/>
            <a:ext cx="219075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9625" y="3690937"/>
            <a:ext cx="171450" cy="1714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9625" y="4548187"/>
            <a:ext cx="171450" cy="1714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Space Grotesk"/>
              </a:rPr>
              <a:t>System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2298650"/>
            <a:ext cx="371475" cy="419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25" y="2298650"/>
            <a:ext cx="400050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458616"/>
            <a:ext cx="447675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2225" y="3458616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4618583"/>
            <a:ext cx="40005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2225" y="4618583"/>
            <a:ext cx="447675" cy="419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95400" y="2298650"/>
            <a:ext cx="475059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Space Grotesk"/>
              </a:rPr>
              <a:t>Web &amp; Mobile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2555825"/>
            <a:ext cx="452437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Transition from console UI to a React/Spring Boot responsive web portal and mobile application.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4675" y="2298650"/>
            <a:ext cx="472059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Space Grotesk"/>
              </a:rPr>
              <a:t>Automated Notifications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24675" y="2555825"/>
            <a:ext cx="44958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Integrate Email and SMS APIs to notify users instantly when ticket status changes.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58616"/>
            <a:ext cx="467058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Space Grotesk"/>
              </a:rPr>
              <a:t>Admin Analytics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715791"/>
            <a:ext cx="444817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Provide visual reports, SLA tracking, and resolution timeline metrics for executive overview.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3725" y="3458616"/>
            <a:ext cx="470058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Space Grotesk"/>
              </a:rPr>
              <a:t>Advanced Security &amp; Hash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3725" y="3715791"/>
            <a:ext cx="44767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Implement BCrypt password hashing, JWT authorization, and input sanitization against SQLi.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3975" y="4618583"/>
            <a:ext cx="472059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Space Grotesk"/>
              </a:rPr>
              <a:t>Media Attachments &amp; 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3975" y="4875758"/>
            <a:ext cx="44958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Allow screenshot uploads and post-resolution satisfaction rating surveys.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2300" y="4618583"/>
            <a:ext cx="467058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Space Grotesk"/>
              </a:rPr>
              <a:t>Smart Filtering &amp; Priority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2300" y="4875758"/>
            <a:ext cx="444817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Add ticket priority levels (Low, Medium, High) alongside advanced search filters.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Space Grotesk"/>
              </a:rPr>
              <a:t>Future Enhancements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276475"/>
            <a:ext cx="190500" cy="19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162300"/>
            <a:ext cx="219075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4933950"/>
            <a:ext cx="19050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2257425"/>
            <a:ext cx="21526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Streamlined Digital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457450"/>
            <a:ext cx="6734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Replaces fragmented manual processing with a structured, centralized digital tracking mechanism.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1575" y="3143250"/>
            <a:ext cx="20193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Clean Modular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1575" y="3343275"/>
            <a:ext cx="75342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Clear separation of UI, business logic, and JDBC persistence makes the application extensible and easy to test.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4029075"/>
            <a:ext cx="18573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Robust Data Consistency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229100"/>
            <a:ext cx="71913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Relational schema design in MySQL paired with Java validation prevents duplicate or inconsistent records.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914900"/>
            <a:ext cx="33242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Scalable Foundation for Enterprise Expansion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114925"/>
            <a:ext cx="6619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The core architecture is ready to be transformed into a full-stack Spring Boot / REST API platform.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Space Grotesk"/>
              </a:rPr>
              <a:t>Project Conclusion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0" y="3227933"/>
            <a:ext cx="5715000" cy="22953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8690" y="1334541"/>
            <a:ext cx="2194619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71759" y="1867941"/>
            <a:ext cx="2848481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b="1" sz="4200" i="0" u="none">
                <a:solidFill>
                  <a:srgbClr val="FFFFFF"/>
                </a:solidFill>
                <a:latin typeface="Space Grotesk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29187" y="2549872"/>
            <a:ext cx="2333625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5686" y="3542258"/>
            <a:ext cx="5020627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950" i="0" u="none">
                <a:solidFill>
                  <a:srgbClr val="FFFFFF"/>
                </a:solidFill>
                <a:latin typeface="Space Grotesk"/>
              </a:rPr>
              <a:t>Complaint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5225" y="3942308"/>
            <a:ext cx="47815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38BDF8"/>
                </a:solidFill>
                <a:latin typeface="Plus Jakarta Sans SemiBold"/>
              </a:rPr>
              <a:t>Built with Java • JDBC • MySQL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5225" y="4407098"/>
            <a:ext cx="47815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5225" y="4607123"/>
            <a:ext cx="4781550" cy="335160"/>
          </a:xfrm>
          <a:prstGeom prst="rect">
            <a:avLst/>
          </a:prstGeom>
          <a:noFill/>
        </p:spPr>
        <p:txBody>
          <a:bodyPr wrap="square" lIns="276225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1" sz="1650" i="0" u="none">
                <a:solidFill>
                  <a:srgbClr val="FFFFFF"/>
                </a:solidFill>
                <a:latin typeface="Plus Jakarta Sans"/>
              </a:rPr>
              <a:t>Hemalatha 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5225" y="4980384"/>
            <a:ext cx="47815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Project Author &amp; Presenter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5900" y="4673798"/>
            <a:ext cx="18097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19225" y="3020466"/>
            <a:ext cx="93535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19225" y="3795712"/>
            <a:ext cx="9353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19225" y="3795712"/>
            <a:ext cx="9353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225" y="316989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14600" y="3163341"/>
            <a:ext cx="82581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https://otrs.com/wp-content/uploads/Service-Desk-Software.jpeg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3409057"/>
            <a:ext cx="82581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otrs.com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9225" y="3954660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14600" y="3948112"/>
            <a:ext cx="82581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https://d8it4huxumps7.cloudfront.net/uploads/images/65646c96366aa_cloud_computing_architecture_artboard_2.jpg?d=2000x2000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4193827"/>
            <a:ext cx="82581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unstop.com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Space Grotesk"/>
              </a:rPr>
              <a:t>Image Sources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19225" y="3020466"/>
            <a:ext cx="93535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19225" y="3795712"/>
            <a:ext cx="9353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19225" y="3795712"/>
            <a:ext cx="9353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225" y="3169890"/>
            <a:ext cx="857250" cy="47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14600" y="3163341"/>
            <a:ext cx="82581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https://otrs.com/wp-content/uploads/Service-Desk-Software.jpeg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3409057"/>
            <a:ext cx="82581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otrs.com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225" y="3954660"/>
            <a:ext cx="857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14600" y="3948112"/>
            <a:ext cx="82581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https://d8it4huxumps7.cloudfront.net/uploads/images/65646c96366aa_cloud_computing_architecture_artboard_2.jpg?d=2000x2000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4193827"/>
            <a:ext cx="82581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unstop.com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Space Grotesk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